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13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D1F3C"/>
                </a:solidFill>
                <a:latin typeface="Arial"/>
              </a:rPr>
              <a:t>Cost Breakdown  (Total ~€90)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(€)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2A-7845-9F8D-0263251D855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A2A-7845-9F8D-0263251D8557}"/>
              </c:ext>
            </c:extLst>
          </c:dPt>
          <c:dPt>
            <c:idx val="2"/>
            <c:invertIfNegative val="0"/>
            <c:bubble3D val="0"/>
            <c:spPr>
              <a:solidFill>
                <a:srgbClr val="0D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2A-7845-9F8D-0263251D8557}"/>
              </c:ext>
            </c:extLst>
          </c:dPt>
          <c:dPt>
            <c:idx val="3"/>
            <c:invertIfNegative val="0"/>
            <c:bubble3D val="0"/>
            <c:spPr>
              <a:solidFill>
                <a:srgbClr val="0D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2A-7845-9F8D-0263251D8557}"/>
              </c:ext>
            </c:extLst>
          </c:dPt>
          <c:dPt>
            <c:idx val="4"/>
            <c:invertIfNegative val="0"/>
            <c:bubble3D val="0"/>
            <c:spPr>
              <a:solidFill>
                <a:srgbClr val="7BA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2A-7845-9F8D-0263251D85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Loc-Line arm</c:v>
                </c:pt>
                <c:pt idx="1">
                  <c:v>Feather V4</c:v>
                </c:pt>
                <c:pt idx="2">
                  <c:v>Mag. adapter</c:v>
                </c:pt>
                <c:pt idx="3">
                  <c:v>LiPo battery</c:v>
                </c:pt>
                <c:pt idx="4">
                  <c:v>Enclosure + buttons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20</c:v>
                </c:pt>
                <c:pt idx="2">
                  <c:v>10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A2A-7845-9F8D-0263251D85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77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E525-B2DF-5DEF-9969-0A30AD14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9EFC1-D698-E100-214C-C2FCC91DD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5660B-FCEA-C6DE-7A89-46C57A200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E8385-2AA4-B338-5A9B-8C13264B2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92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914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kern="0" spc="20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HEIDI  ·  Co-Creation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Marua: Taking Pictures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Videos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Wheelchair-mounted stabilizer with Bluetooth remote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hands-free photography and video recording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 ·   Natálie  ·  Alina  ·  Markéta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cost: ~€90   ·   MIT / CC BY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that needed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Marua and what did she need?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|  ASSIST HEIDI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931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Marua, 30  —  Wheelchair 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Myoclonic Epilepsy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impairment: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Uncontrollable tremors
and twitching of the hands
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abilities: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press large buttons
even with limited fine motor control
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capable, communicates without difficulty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051560"/>
            <a:ext cx="44348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443484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572000" y="1078992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Request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66420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stable photos &amp; videos — including while moving
</a:t>
            </a: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needed to: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211455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phone to wheelchair frame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phone independently of hand movements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shutter without touching phone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photo and video mode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while wheelchair is in motion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 assistive technology device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|  ASSIST HEIDI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6052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11480" y="10881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Smartphone Stabilizer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384048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54864" cy="804672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Loc-Line arm (3/4")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modular hose — holds phone at any angle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384048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54864" cy="804672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548640" y="2770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phone adapter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attach/detach — works with any smartphone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675888"/>
            <a:ext cx="384048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411480" y="3675888"/>
            <a:ext cx="54864" cy="804672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clamp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Screw-tightening — fits any standard wheelchair frame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60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4846320" y="10881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Bluetooth Remote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755648"/>
            <a:ext cx="384048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4846320" y="1755648"/>
            <a:ext cx="54864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4992624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Feather V4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92624" y="2103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+ LiPo charging built-in, USB-C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715768"/>
            <a:ext cx="384048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846320" y="2715768"/>
            <a:ext cx="54864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4992624" y="2770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(3.7V 800mAh)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92624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Rechargeable, JST connector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675888"/>
            <a:ext cx="384048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4846320" y="3675888"/>
            <a:ext cx="54864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4992624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enclosure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92624" y="4023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Openable — easy component swap, PLA ~3.5h print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F7A4A-0E31-DCAF-72D8-84729E2A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18D6AB-9F48-1E4F-BF7E-CC7BC39BA09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E92385-08B3-A73A-3636-49636CCF33D1}"/>
              </a:ext>
            </a:extLst>
          </p:cNvPr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62A92B-81B8-69B2-6BD8-ED82B24CD939}"/>
              </a:ext>
            </a:extLst>
          </p:cNvPr>
          <p:cNvSpPr/>
          <p:nvPr/>
        </p:nvSpPr>
        <p:spPr>
          <a:xfrm>
            <a:off x="41148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 assistive technology device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AD00D8-1D42-2AE9-5F98-066906AE1E23}"/>
              </a:ext>
            </a:extLst>
          </p:cNvPr>
          <p:cNvSpPr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|  ASSIST HEIDI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AED06D-839D-050D-4A48-F5DEAB382545}"/>
              </a:ext>
            </a:extLst>
          </p:cNvPr>
          <p:cNvSpPr/>
          <p:nvPr/>
        </p:nvSpPr>
        <p:spPr>
          <a:xfrm>
            <a:off x="274320" y="1051560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8E647E-DAFC-A0F8-237F-CD6B58B0BE65}"/>
              </a:ext>
            </a:extLst>
          </p:cNvPr>
          <p:cNvSpPr/>
          <p:nvPr/>
        </p:nvSpPr>
        <p:spPr>
          <a:xfrm>
            <a:off x="274320" y="1051560"/>
            <a:ext cx="416052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A2FFCDF-B556-FAF2-8B35-6CDBD9439E6F}"/>
              </a:ext>
            </a:extLst>
          </p:cNvPr>
          <p:cNvSpPr/>
          <p:nvPr/>
        </p:nvSpPr>
        <p:spPr>
          <a:xfrm>
            <a:off x="411480" y="10881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Smartphone Stabilizer</a:t>
            </a:r>
            <a:endParaRPr lang="en-US" sz="13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9965C88-835B-5C65-0B19-B021F4CC44A1}"/>
              </a:ext>
            </a:extLst>
          </p:cNvPr>
          <p:cNvSpPr/>
          <p:nvPr/>
        </p:nvSpPr>
        <p:spPr>
          <a:xfrm>
            <a:off x="4709160" y="1051560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9250EA6-41AC-1B31-A18D-A19E09B6FD2B}"/>
              </a:ext>
            </a:extLst>
          </p:cNvPr>
          <p:cNvSpPr/>
          <p:nvPr/>
        </p:nvSpPr>
        <p:spPr>
          <a:xfrm>
            <a:off x="4709160" y="1051560"/>
            <a:ext cx="4160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5278F65-05B9-3B9A-A00B-E4A08343C7A0}"/>
              </a:ext>
            </a:extLst>
          </p:cNvPr>
          <p:cNvSpPr/>
          <p:nvPr/>
        </p:nvSpPr>
        <p:spPr>
          <a:xfrm>
            <a:off x="4846320" y="10881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Bluetooth Remote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CEB690-B8ED-E8E2-172B-218CCADBA1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7018" y="2076558"/>
            <a:ext cx="2875123" cy="21562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BD8310-FFA8-ACCA-9024-C66D400680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11"/>
          <a:stretch>
            <a:fillRect/>
          </a:stretch>
        </p:blipFill>
        <p:spPr>
          <a:xfrm rot="5400000">
            <a:off x="5543651" y="1744986"/>
            <a:ext cx="2404996" cy="261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6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controls at a glance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|  ASSIST HEIDI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5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" y="1856232"/>
            <a:ext cx="0" cy="201168"/>
          </a:xfrm>
          <a:prstGeom prst="line">
            <a:avLst/>
          </a:prstGeom>
          <a:noFill/>
          <a:ln w="1905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22960" y="14904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Loc-Line arm to wheelchair frame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482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2004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" y="2441448"/>
            <a:ext cx="0" cy="201168"/>
          </a:xfrm>
          <a:prstGeom prst="line">
            <a:avLst/>
          </a:prstGeom>
          <a:noFill/>
          <a:ln w="1905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822960" y="20756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magnetic adapter to arm 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200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" y="3026664"/>
            <a:ext cx="0" cy="201168"/>
          </a:xfrm>
          <a:prstGeom prst="line">
            <a:avLst/>
          </a:prstGeom>
          <a:noFill/>
          <a:ln w="1905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magnetic sticker on phone, attach phone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186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3200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" y="3611880"/>
            <a:ext cx="0" cy="201168"/>
          </a:xfrm>
          <a:prstGeom prst="line">
            <a:avLst/>
          </a:prstGeom>
          <a:noFill/>
          <a:ln w="1905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remote, pair via Bluetooth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03904"/>
            <a:ext cx="384048" cy="384048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3200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8313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camera app → use remote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1051560"/>
            <a:ext cx="3200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5669280" y="1051560"/>
            <a:ext cx="32004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5806440" y="10881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Controls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06440" y="1664208"/>
            <a:ext cx="2926080" cy="1097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5870448" y="177393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Shutter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1801368"/>
            <a:ext cx="0" cy="82296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6995160" y="1773936"/>
            <a:ext cx="1645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photo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video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2944368"/>
            <a:ext cx="2926080" cy="1097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5870448" y="305409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3081528"/>
            <a:ext cx="0" cy="82296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6995159" y="3054096"/>
            <a:ext cx="1709921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camera↔rear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camera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06440" y="4224528"/>
            <a:ext cx="2926080" cy="347472"/>
          </a:xfrm>
          <a:prstGeom prst="rect">
            <a:avLst/>
          </a:prstGeom>
          <a:solidFill>
            <a:srgbClr val="EBF5F7"/>
          </a:solidFill>
          <a:ln w="6350">
            <a:solidFill>
              <a:srgbClr val="C0DC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8" name="Text 36"/>
          <p:cNvSpPr/>
          <p:nvPr/>
        </p:nvSpPr>
        <p:spPr>
          <a:xfrm>
            <a:off x="5870448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HID · C++ · VS Code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 &amp; Cost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anyone with a 3D printer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|  ASSIST HEIDI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029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481328"/>
            <a:ext cx="3383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55778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67728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 · Prusa MK4S · ~3.5h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1956816"/>
            <a:ext cx="338328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/>
          <p:nvPr/>
        </p:nvSpPr>
        <p:spPr>
          <a:xfrm>
            <a:off x="55778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67728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Onshape (open link in docs)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0" y="2432304"/>
            <a:ext cx="3383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/>
          <p:nvPr/>
        </p:nvSpPr>
        <p:spPr>
          <a:xfrm>
            <a:off x="557784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6772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Bluetooth HID · VS Code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0" y="2907792"/>
            <a:ext cx="338328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/>
          <p:nvPr/>
        </p:nvSpPr>
        <p:spPr>
          <a:xfrm>
            <a:off x="5577840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67728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Feather V4  (BLE + LiPo)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0" y="3383280"/>
            <a:ext cx="3383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8"/>
          <p:cNvSpPr/>
          <p:nvPr/>
        </p:nvSpPr>
        <p:spPr>
          <a:xfrm>
            <a:off x="557784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67728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no added strain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0" y="3858768"/>
            <a:ext cx="338328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8E4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1"/>
          <p:cNvSpPr/>
          <p:nvPr/>
        </p:nvSpPr>
        <p:spPr>
          <a:xfrm>
            <a:off x="557784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67728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(code) · CC BY 4.0 (docs)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74320" y="42245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needed: 3D printer · Soldering iron · USB-C cable · PrusaSlicer · VS Code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we'd do differently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|  ASSIST HEIDI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889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11480" y="1088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Loc-Line arm is extremely flexible and stable — perfect for this use case.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HID approach worked without any custom app on the phone.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phone adapter made mounting effortless.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dirty="0"/>
          </a:p>
        </p:txBody>
      </p:sp>
      <p:sp>
        <p:nvSpPr>
          <p:cNvPr id="11" name="Shape 9"/>
          <p:cNvSpPr/>
          <p:nvPr/>
        </p:nvSpPr>
        <p:spPr>
          <a:xfrm>
            <a:off x="3218688" y="1051560"/>
            <a:ext cx="278892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12" name="Text 10"/>
          <p:cNvSpPr/>
          <p:nvPr/>
        </p:nvSpPr>
        <p:spPr>
          <a:xfrm>
            <a:off x="3355848" y="1088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Improvement suggestions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190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051560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788920" cy="566928"/>
          </a:xfrm>
          <a:prstGeom prst="rect">
            <a:avLst/>
          </a:prstGeom>
          <a:solidFill>
            <a:srgbClr val="F4A217"/>
          </a:solidFill>
          <a:ln w="12700">
            <a:solidFill>
              <a:srgbClr val="F4A21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6300216" y="1088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7190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the user at every step — Marua's feedback shaped the final button size and placement critically.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solutions beat complex ones in AT design.</a:t>
            </a:r>
          </a:p>
          <a:p>
            <a:pPr marL="0" indent="0">
              <a:buNone/>
            </a:pPr>
            <a:endParaRPr lang="en-US" sz="1150" dirty="0">
              <a:solidFill>
                <a:srgbClr val="334155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4ABBB-2754-B44F-AE32-75F4F62A9FFF}"/>
              </a:ext>
            </a:extLst>
          </p:cNvPr>
          <p:cNvSpPr txBox="1"/>
          <p:nvPr/>
        </p:nvSpPr>
        <p:spPr>
          <a:xfrm>
            <a:off x="3383280" y="1814052"/>
            <a:ext cx="248716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150" dirty="0"/>
              <a:t>Switching between photo mode and camera</a:t>
            </a:r>
          </a:p>
          <a:p>
            <a:endParaRPr lang="en-CZ" sz="1150" dirty="0"/>
          </a:p>
          <a:p>
            <a:r>
              <a:rPr lang="en-GB" sz="1150" dirty="0"/>
              <a:t>I</a:t>
            </a:r>
            <a:r>
              <a:rPr lang="en-CZ" sz="1150" dirty="0"/>
              <a:t>mprovement of stability</a:t>
            </a:r>
          </a:p>
          <a:p>
            <a:endParaRPr lang="en-CZ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add a charging indicator LED next version</a:t>
            </a:r>
            <a:endParaRPr lang="en-US" sz="1150" dirty="0"/>
          </a:p>
          <a:p>
            <a:endParaRPr lang="en-CZ" sz="1150" dirty="0"/>
          </a:p>
          <a:p>
            <a:endParaRPr lang="en-CZ" sz="1150" dirty="0"/>
          </a:p>
          <a:p>
            <a:endParaRPr lang="en-CZ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Seagirls 🌊   ·   Natálie ·  Alina ·  Markéta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566</Words>
  <Application>Microsoft Macintosh PowerPoint</Application>
  <PresentationFormat>On-screen Show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Marua: Taking Pictures and Videos</dc:title>
  <dc:subject>PptxGenJS Presentation</dc:subject>
  <dc:creator>PptxGenJS</dc:creator>
  <cp:lastModifiedBy>Martincová Natálie (251167)</cp:lastModifiedBy>
  <cp:revision>6</cp:revision>
  <dcterms:created xsi:type="dcterms:W3CDTF">2026-05-30T13:58:47Z</dcterms:created>
  <dcterms:modified xsi:type="dcterms:W3CDTF">2026-06-03T12:10:42Z</dcterms:modified>
</cp:coreProperties>
</file>